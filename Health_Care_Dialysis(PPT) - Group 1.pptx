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60" r:id="rId2"/>
    <p:sldId id="261" r:id="rId3"/>
    <p:sldId id="258" r:id="rId4"/>
    <p:sldId id="259" r:id="rId5"/>
    <p:sldId id="263" r:id="rId6"/>
    <p:sldId id="264" r:id="rId7"/>
    <p:sldId id="265" r:id="rId8"/>
    <p:sldId id="266" r:id="rId9"/>
    <p:sldId id="267" r:id="rId10"/>
    <p:sldId id="268" r:id="rId11"/>
    <p:sldId id="272" r:id="rId12"/>
    <p:sldId id="269" r:id="rId13"/>
    <p:sldId id="273" r:id="rId14"/>
    <p:sldId id="274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3C4082-A707-46A6-B099-051E6AC3A369}" v="3" dt="2024-05-24T15:55:55.8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hosh Kavala" userId="98da1fc12d2da843" providerId="LiveId" clId="{6E3C4082-A707-46A6-B099-051E6AC3A369}"/>
    <pc:docChg chg="custSel addSld modSld">
      <pc:chgData name="Santhosh Kavala" userId="98da1fc12d2da843" providerId="LiveId" clId="{6E3C4082-A707-46A6-B099-051E6AC3A369}" dt="2024-05-24T15:56:47.592" v="29" actId="29295"/>
      <pc:docMkLst>
        <pc:docMk/>
      </pc:docMkLst>
      <pc:sldChg chg="addSp delSp modSp new mod modClrScheme chgLayout">
        <pc:chgData name="Santhosh Kavala" userId="98da1fc12d2da843" providerId="LiveId" clId="{6E3C4082-A707-46A6-B099-051E6AC3A369}" dt="2024-05-24T15:52:17.664" v="12" actId="29295"/>
        <pc:sldMkLst>
          <pc:docMk/>
          <pc:sldMk cId="2849601800" sldId="272"/>
        </pc:sldMkLst>
        <pc:spChg chg="del">
          <ac:chgData name="Santhosh Kavala" userId="98da1fc12d2da843" providerId="LiveId" clId="{6E3C4082-A707-46A6-B099-051E6AC3A369}" dt="2024-05-24T15:51:34.304" v="4" actId="700"/>
          <ac:spMkLst>
            <pc:docMk/>
            <pc:sldMk cId="2849601800" sldId="272"/>
            <ac:spMk id="2" creationId="{AABB92B1-C899-E12D-D7B0-121E0C814108}"/>
          </ac:spMkLst>
        </pc:spChg>
        <pc:picChg chg="add mod">
          <ac:chgData name="Santhosh Kavala" userId="98da1fc12d2da843" providerId="LiveId" clId="{6E3C4082-A707-46A6-B099-051E6AC3A369}" dt="2024-05-24T15:50:21.643" v="1"/>
          <ac:picMkLst>
            <pc:docMk/>
            <pc:sldMk cId="2849601800" sldId="272"/>
            <ac:picMk id="3" creationId="{43533814-1AB2-6D7C-3276-79618E16DF20}"/>
          </ac:picMkLst>
        </pc:picChg>
        <pc:picChg chg="add mod">
          <ac:chgData name="Santhosh Kavala" userId="98da1fc12d2da843" providerId="LiveId" clId="{6E3C4082-A707-46A6-B099-051E6AC3A369}" dt="2024-05-24T15:52:17.664" v="12" actId="29295"/>
          <ac:picMkLst>
            <pc:docMk/>
            <pc:sldMk cId="2849601800" sldId="272"/>
            <ac:picMk id="5" creationId="{EE0411A2-26A9-137D-2AFE-7CE07A809727}"/>
          </ac:picMkLst>
        </pc:picChg>
      </pc:sldChg>
      <pc:sldChg chg="addSp modSp new mod">
        <pc:chgData name="Santhosh Kavala" userId="98da1fc12d2da843" providerId="LiveId" clId="{6E3C4082-A707-46A6-B099-051E6AC3A369}" dt="2024-05-24T15:55:07.856" v="21" actId="29295"/>
        <pc:sldMkLst>
          <pc:docMk/>
          <pc:sldMk cId="3568347689" sldId="273"/>
        </pc:sldMkLst>
        <pc:picChg chg="add mod">
          <ac:chgData name="Santhosh Kavala" userId="98da1fc12d2da843" providerId="LiveId" clId="{6E3C4082-A707-46A6-B099-051E6AC3A369}" dt="2024-05-24T15:52:38.822" v="14"/>
          <ac:picMkLst>
            <pc:docMk/>
            <pc:sldMk cId="3568347689" sldId="273"/>
            <ac:picMk id="2" creationId="{07910913-8794-6D92-BE95-FABF422C98F8}"/>
          </ac:picMkLst>
        </pc:picChg>
        <pc:picChg chg="add mod">
          <ac:chgData name="Santhosh Kavala" userId="98da1fc12d2da843" providerId="LiveId" clId="{6E3C4082-A707-46A6-B099-051E6AC3A369}" dt="2024-05-24T15:55:07.856" v="21" actId="29295"/>
          <ac:picMkLst>
            <pc:docMk/>
            <pc:sldMk cId="3568347689" sldId="273"/>
            <ac:picMk id="4" creationId="{60660E35-B2A5-CEFC-19B1-51A805FAA621}"/>
          </ac:picMkLst>
        </pc:picChg>
      </pc:sldChg>
      <pc:sldChg chg="addSp modSp new mod">
        <pc:chgData name="Santhosh Kavala" userId="98da1fc12d2da843" providerId="LiveId" clId="{6E3C4082-A707-46A6-B099-051E6AC3A369}" dt="2024-05-24T15:56:47.592" v="29" actId="29295"/>
        <pc:sldMkLst>
          <pc:docMk/>
          <pc:sldMk cId="1706529048" sldId="274"/>
        </pc:sldMkLst>
        <pc:picChg chg="add mod">
          <ac:chgData name="Santhosh Kavala" userId="98da1fc12d2da843" providerId="LiveId" clId="{6E3C4082-A707-46A6-B099-051E6AC3A369}" dt="2024-05-24T15:55:55.852" v="23"/>
          <ac:picMkLst>
            <pc:docMk/>
            <pc:sldMk cId="1706529048" sldId="274"/>
            <ac:picMk id="2" creationId="{EB2D34C0-2FFE-7211-136B-6882371E38AB}"/>
          </ac:picMkLst>
        </pc:picChg>
        <pc:picChg chg="add mod">
          <ac:chgData name="Santhosh Kavala" userId="98da1fc12d2da843" providerId="LiveId" clId="{6E3C4082-A707-46A6-B099-051E6AC3A369}" dt="2024-05-24T15:56:47.592" v="29" actId="29295"/>
          <ac:picMkLst>
            <pc:docMk/>
            <pc:sldMk cId="1706529048" sldId="274"/>
            <ac:picMk id="4" creationId="{33B20EA1-8D98-5C5D-C0CA-6DF93266C2F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F4F9E-2278-4BE3-A9C3-7273A8B87445}" type="datetimeFigureOut">
              <a:rPr lang="en-IN" smtClean="0"/>
              <a:t>24-05-2024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ED89-51D0-492E-B26E-511FE0A9A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6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F4F9E-2278-4BE3-A9C3-7273A8B87445}" type="datetimeFigureOut">
              <a:rPr lang="en-IN" smtClean="0"/>
              <a:t>24-05-2024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ED89-51D0-492E-B26E-511FE0A9A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279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F4F9E-2278-4BE3-A9C3-7273A8B87445}" type="datetimeFigureOut">
              <a:rPr lang="en-IN" smtClean="0"/>
              <a:t>24-05-2024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ED89-51D0-492E-B26E-511FE0A9A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8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F4F9E-2278-4BE3-A9C3-7273A8B87445}" type="datetimeFigureOut">
              <a:rPr lang="en-IN" smtClean="0"/>
              <a:t>24-05-2024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ED89-51D0-492E-B26E-511FE0A9A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718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F4F9E-2278-4BE3-A9C3-7273A8B87445}" type="datetimeFigureOut">
              <a:rPr lang="en-IN" smtClean="0"/>
              <a:t>24-05-2024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ED89-51D0-492E-B26E-511FE0A9A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249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F4F9E-2278-4BE3-A9C3-7273A8B87445}" type="datetimeFigureOut">
              <a:rPr lang="en-IN" smtClean="0"/>
              <a:t>24-05-2024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ED89-51D0-492E-B26E-511FE0A9A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808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F4F9E-2278-4BE3-A9C3-7273A8B87445}" type="datetimeFigureOut">
              <a:rPr lang="en-IN" smtClean="0"/>
              <a:t>24-05-2024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ED89-51D0-492E-B26E-511FE0A9A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605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F4F9E-2278-4BE3-A9C3-7273A8B87445}" type="datetimeFigureOut">
              <a:rPr lang="en-IN" smtClean="0"/>
              <a:t>24-05-2024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ED89-51D0-492E-B26E-511FE0A9A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791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F4F9E-2278-4BE3-A9C3-7273A8B87445}" type="datetimeFigureOut">
              <a:rPr lang="en-IN" smtClean="0"/>
              <a:t>24-05-2024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ED89-51D0-492E-B26E-511FE0A9A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53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F4F9E-2278-4BE3-A9C3-7273A8B87445}" type="datetimeFigureOut">
              <a:rPr lang="en-IN" smtClean="0"/>
              <a:t>24-05-2024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ED89-51D0-492E-B26E-511FE0A9A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287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F4F9E-2278-4BE3-A9C3-7273A8B87445}" type="datetimeFigureOut">
              <a:rPr lang="en-IN" smtClean="0"/>
              <a:t>24-05-2024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ED89-51D0-492E-B26E-511FE0A9A934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1244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F4F9E-2278-4BE3-A9C3-7273A8B87445}" type="datetimeFigureOut">
              <a:rPr lang="en-IN" smtClean="0"/>
              <a:t>24-05-2024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ED89-51D0-492E-B26E-511FE0A9A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753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F4F9E-2278-4BE3-A9C3-7273A8B87445}" type="datetimeFigureOut">
              <a:rPr lang="en-IN" smtClean="0"/>
              <a:t>24-05-2024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ED89-51D0-492E-B26E-511FE0A9A934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5969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F4F9E-2278-4BE3-A9C3-7273A8B87445}" type="datetimeFigureOut">
              <a:rPr lang="en-IN" smtClean="0"/>
              <a:t>24-05-2024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ED89-51D0-492E-B26E-511FE0A9A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911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F4F9E-2278-4BE3-A9C3-7273A8B87445}" type="datetimeFigureOut">
              <a:rPr lang="en-IN" smtClean="0"/>
              <a:t>24-05-2024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ED89-51D0-492E-B26E-511FE0A9A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164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F4F9E-2278-4BE3-A9C3-7273A8B87445}" type="datetimeFigureOut">
              <a:rPr lang="en-IN" smtClean="0"/>
              <a:t>24-05-2024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ED89-51D0-492E-B26E-511FE0A9A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76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F4F9E-2278-4BE3-A9C3-7273A8B87445}" type="datetimeFigureOut">
              <a:rPr lang="en-IN" smtClean="0"/>
              <a:t>24-05-2024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DDED89-51D0-492E-B26E-511FE0A9A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384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57181E7-A929-C349-4BA8-9226E666ED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0E4A0C68-F79A-BC1A-BCE1-82A6C00E0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7963" y="1669501"/>
            <a:ext cx="7420897" cy="79937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Health Care Dialysis </a:t>
            </a:r>
            <a:endParaRPr lang="en-IN" sz="4800" b="1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5F08E95-952E-52B2-EDDB-F536F8F59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119" y="3224981"/>
            <a:ext cx="4650658" cy="33036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</a:rPr>
              <a:t>Presented By : Group-1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</a:rPr>
              <a:t>Members: Anjali Kaushik Singh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</a:rPr>
              <a:t>                      Anupama Aditya Nagarkatti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</a:rPr>
              <a:t>                      Pranali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</a:rPr>
              <a:t>                     Santhosh Kavala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</a:rPr>
              <a:t>                     Shivani Reddy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</a:rPr>
              <a:t>                     Sarika Rajput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</a:rPr>
              <a:t>                     Sruthi Suresh</a:t>
            </a:r>
            <a:endParaRPr lang="en-IN" sz="2000" dirty="0">
              <a:solidFill>
                <a:schemeClr val="tx1"/>
              </a:solidFill>
            </a:endParaRP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ADFD00B9-8873-EF55-ABD6-61F546185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83" y="68826"/>
            <a:ext cx="1777180" cy="1180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5062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CF335594-EF16-C74D-B128-267529EA0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403" y="967738"/>
            <a:ext cx="500270" cy="449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D54216BF-DC2A-B601-D31A-3FC6F84AA52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666EC2A-9EB5-AD0E-F871-B66633262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04568"/>
            <a:ext cx="8596668" cy="1025832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 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Contents:</a:t>
            </a:r>
            <a:endParaRPr lang="en-IN" b="1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3751D6-AA68-895D-0FCA-40BA9A519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Introduction</a:t>
            </a:r>
          </a:p>
          <a:p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Health Care Overview</a:t>
            </a:r>
          </a:p>
          <a:p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KPI 1</a:t>
            </a:r>
          </a:p>
          <a:p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KPI 2</a:t>
            </a:r>
          </a:p>
          <a:p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KPI 3</a:t>
            </a:r>
          </a:p>
          <a:p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KPI 4</a:t>
            </a:r>
          </a:p>
          <a:p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KPI 5</a:t>
            </a:r>
          </a:p>
          <a:p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KPI 6</a:t>
            </a:r>
          </a:p>
          <a:p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Dashboard</a:t>
            </a:r>
          </a:p>
          <a:p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Conclusion</a:t>
            </a:r>
            <a:endParaRPr lang="en-IN" sz="24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809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02A6842E-5E75-CD8F-6DC3-DFC082603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395" y="235067"/>
            <a:ext cx="774423" cy="65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Content Placeholder 6">
            <a:extLst>
              <a:ext uri="{FF2B5EF4-FFF2-40B4-BE49-F238E27FC236}">
                <a16:creationId xmlns:a16="http://schemas.microsoft.com/office/drawing/2014/main" id="{7AAB07F2-23DC-1926-B397-63D802E63B2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AB87D67-5463-D679-8C4C-C1EA19461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220" y="206299"/>
            <a:ext cx="10980173" cy="822683"/>
          </a:xfrm>
        </p:spPr>
        <p:txBody>
          <a:bodyPr/>
          <a:lstStyle/>
          <a:p>
            <a:r>
              <a:rPr lang="en-US" dirty="0"/>
              <a:t>      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Introduction :</a:t>
            </a:r>
            <a:endParaRPr lang="en-IN" sz="4000" b="1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268A6C-266D-EE50-35A4-72C54A09A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16" y="885873"/>
            <a:ext cx="9668452" cy="569052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Dialysis is a crucial medical treatment designed to replicate some functions of the kidneys when they are no longer able to work effectively.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It is primarily used for patients with end-stage renal disease (ESRD) or severe chronic kidney disease (CKD).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Dialysis helps maintain the balance of the body's systems by removing waste products, excess fluids, and maintaining electrolyte levels.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The kidneys play a vital role in filtering blood, removing waste products, and balancing fluids and electrolytes.</a:t>
            </a:r>
            <a:endParaRPr lang="en-IN" sz="24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1F0A860-C636-4659-0E0E-718472FD7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8780" y="2139696"/>
            <a:ext cx="2470809" cy="2761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0274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D1F684F-83C1-D8B1-C1FD-3E8AABBD8D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22" t="12970" r="30012" b="18272"/>
          <a:stretch/>
        </p:blipFill>
        <p:spPr bwMode="auto">
          <a:xfrm>
            <a:off x="500696" y="0"/>
            <a:ext cx="566929" cy="650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73C3D2B2-29EF-0740-6FE4-1B85A88AC89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B22A105-B109-D5CA-5024-70E5F135E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72" y="37886"/>
            <a:ext cx="11019503" cy="714569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         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Health Care Overview:</a:t>
            </a:r>
            <a:endParaRPr lang="en-IN" sz="3600" b="1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0AD88-9CDB-B1C5-8372-90B0B5F3A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871" y="635558"/>
            <a:ext cx="11868877" cy="596641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2400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The Health Care Dialysis industry is a complex sector that operates globally, encompassing various treatment methods including hemodialysis and peritoneal dialysis.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It is a dynamic industry influenced by various factors, requiring adaptability, strategic planning, and a commitment to patient safety and satisfaction for long-term success.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Analyzing the data of the dialysis industry serves as a fundamental tool for improving efficiency and making informed decisions.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Data is analyzed in the form of relational, graphs, and document data models using tools like Excel, Tableau, Power BI, and SQL.</a:t>
            </a:r>
            <a:endParaRPr lang="en-IN" sz="24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443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6DD297F-3665-DF9B-77CA-BF707FC523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8" t="3095" r="1269" b="1073"/>
          <a:stretch/>
        </p:blipFill>
        <p:spPr>
          <a:xfrm>
            <a:off x="4267769" y="1799602"/>
            <a:ext cx="7906628" cy="378738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D1F684F-83C1-D8B1-C1FD-3E8AABBD8D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00" t="6841" r="23976" b="20873"/>
          <a:stretch/>
        </p:blipFill>
        <p:spPr bwMode="auto">
          <a:xfrm>
            <a:off x="651828" y="359458"/>
            <a:ext cx="500316" cy="574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73C3D2B2-29EF-0740-6FE4-1B85A88AC89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B22A105-B109-D5CA-5024-70E5F135E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297" y="365125"/>
            <a:ext cx="11626055" cy="71456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        KPI-1 Number of Patients Based on Various Summaries</a:t>
            </a:r>
            <a:endParaRPr lang="en-IN" sz="3600" b="1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5F2842-F0E6-1824-7B29-C19088C088C2}"/>
              </a:ext>
            </a:extLst>
          </p:cNvPr>
          <p:cNvSpPr txBox="1"/>
          <p:nvPr/>
        </p:nvSpPr>
        <p:spPr>
          <a:xfrm>
            <a:off x="17603" y="1579644"/>
            <a:ext cx="4336495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 This KPI provides insights into the demand for dialysis services and assists healthcare providers in delivering personalized care.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It emphasizes the importance of prioritizing resources and interventions based on the frequency and health impact of each summary 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Aptos" panose="020B0004020202020204" pitchFamily="34" charset="0"/>
            </a:endParaRPr>
          </a:p>
          <a:p>
            <a:endParaRPr lang="en-US" sz="2000" dirty="0">
              <a:latin typeface="Aptos" panose="020B0004020202020204" pitchFamily="34" charset="0"/>
            </a:endParaRPr>
          </a:p>
          <a:p>
            <a:endParaRPr lang="en-US" sz="2000" dirty="0">
              <a:latin typeface="Aptos" panose="020B0004020202020204" pitchFamily="34" charset="0"/>
            </a:endParaRPr>
          </a:p>
          <a:p>
            <a:endParaRPr lang="en-US" sz="2000" dirty="0">
              <a:latin typeface="Aptos" panose="020B0004020202020204" pitchFamily="34" charset="0"/>
            </a:endParaRP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2225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A5A2DDA-FDB4-1385-7180-AE937AB73E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91" t="3412" r="2091" b="3814"/>
          <a:stretch/>
        </p:blipFill>
        <p:spPr>
          <a:xfrm>
            <a:off x="5683142" y="1716957"/>
            <a:ext cx="5901166" cy="359359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D1F684F-83C1-D8B1-C1FD-3E8AABBD8D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64" t="11304" r="22465" b="19937"/>
          <a:stretch/>
        </p:blipFill>
        <p:spPr bwMode="auto">
          <a:xfrm>
            <a:off x="1950720" y="104063"/>
            <a:ext cx="676655" cy="64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73C3D2B2-29EF-0740-6FE4-1B85A88AC89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B22A105-B109-D5CA-5024-70E5F135E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504" y="153407"/>
            <a:ext cx="8156448" cy="83278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         KPI-2  PROFIT V/S NON-PROFIT STATS</a:t>
            </a:r>
            <a:endParaRPr lang="en-IN" sz="3600" b="1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0E91D8-AA1B-E938-D6C6-CF0F39BF4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9299" y="1139601"/>
            <a:ext cx="4896151" cy="474830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</a:rPr>
              <a:t>Comparing the financial performance is an important aspect which is required to understand the economic landscape of the health care sector.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</a:rPr>
              <a:t>This analysis helps in identifying the differences in financial outcomes between profit and non-profit organizations and enables the stakeholders to take informed decisions regarding resource allocation, cost management and sustainability of care.</a:t>
            </a:r>
            <a:endParaRPr lang="en-IN" sz="20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417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74E61C5-973F-BD17-1A1A-7EC5672471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41" t="2869" b="1145"/>
          <a:stretch/>
        </p:blipFill>
        <p:spPr>
          <a:xfrm>
            <a:off x="5456169" y="1755649"/>
            <a:ext cx="6310759" cy="371291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D1F684F-83C1-D8B1-C1FD-3E8AABBD8D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91" t="11207" r="20788" b="18271"/>
          <a:stretch/>
        </p:blipFill>
        <p:spPr bwMode="auto">
          <a:xfrm>
            <a:off x="302329" y="239922"/>
            <a:ext cx="786383" cy="693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73C3D2B2-29EF-0740-6FE4-1B85A88AC89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B22A105-B109-D5CA-5024-70E5F135E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86" y="307141"/>
            <a:ext cx="12094714" cy="763879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        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KPI-3 Chain Organizations w.r.t Total Performance Score as No Score</a:t>
            </a:r>
            <a:endParaRPr lang="en-IN" sz="2800" b="1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48BAE7-619C-6BA0-2941-A484EDB1BC65}"/>
              </a:ext>
            </a:extLst>
          </p:cNvPr>
          <p:cNvSpPr txBox="1"/>
          <p:nvPr/>
        </p:nvSpPr>
        <p:spPr>
          <a:xfrm>
            <a:off x="283464" y="998991"/>
            <a:ext cx="4889241" cy="5579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Assessing chain organizations based on the total performance score is a significant KPI in healthcare analytics.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By analyzing this KPI ,healthcare providers can identify the areas of improvement and provide quality care delivery across different chains.</a:t>
            </a:r>
            <a:endParaRPr lang="en-IN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07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40A74F6-7D89-7286-9FCB-E96586320C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43" t="2733" r="1466" b="2525"/>
          <a:stretch/>
        </p:blipFill>
        <p:spPr>
          <a:xfrm>
            <a:off x="6096000" y="1134495"/>
            <a:ext cx="5013961" cy="26450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408537-69BF-743F-4856-2E84BF3142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08" t="3761" b="1261"/>
          <a:stretch/>
        </p:blipFill>
        <p:spPr>
          <a:xfrm>
            <a:off x="6096000" y="4038416"/>
            <a:ext cx="5013961" cy="26631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D9AB0E-224E-FCE6-50AC-50BC77C7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670" y="440626"/>
            <a:ext cx="8596668" cy="69386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KPI-4 Dialysis Stations Stats</a:t>
            </a:r>
            <a:br>
              <a:rPr lang="en-IN" dirty="0">
                <a:latin typeface="+mj-lt"/>
              </a:rPr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2E99D9-0B8D-9B05-1110-793BFD0AE983}"/>
              </a:ext>
            </a:extLst>
          </p:cNvPr>
          <p:cNvSpPr txBox="1"/>
          <p:nvPr/>
        </p:nvSpPr>
        <p:spPr>
          <a:xfrm>
            <a:off x="0" y="1270000"/>
            <a:ext cx="5854046" cy="557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0" i="0" dirty="0">
                <a:effectLst/>
                <a:latin typeface="Aptos" panose="020B0004020202020204" pitchFamily="34" charset="0"/>
              </a:rPr>
              <a:t>The number of dialysis stations varies considerably across the country. Some states, such as California, Texas, and Florida, have a large number of stations, while others, such as Wyoming, North Dakota, and Alaska, have relatively few. This variation is likely due to a number of factors, including population density, the prevalence of kidney disease, and the availability of healthcare resources.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9723E2D-DBE7-2284-E301-9AFB9C990B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84" t="18300" r="25429" b="18271"/>
          <a:stretch/>
        </p:blipFill>
        <p:spPr bwMode="auto">
          <a:xfrm>
            <a:off x="2579285" y="345209"/>
            <a:ext cx="786385" cy="789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1F20440-04B9-2A3A-8637-9200D7B0743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8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633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E9842F7-834C-B57D-B0FF-8C02E3F3D4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17" t="1930" r="3054" b="855"/>
          <a:stretch/>
        </p:blipFill>
        <p:spPr>
          <a:xfrm>
            <a:off x="4151377" y="1701070"/>
            <a:ext cx="7769352" cy="45625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74795A-FF0F-12BF-DCAD-7CF87A6D1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678" y="326136"/>
            <a:ext cx="8596668" cy="66341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KPI-5# of Category Text  - As Expected</a:t>
            </a:r>
            <a:br>
              <a:rPr lang="en-IN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</a:br>
            <a:endParaRPr lang="en-IN" b="1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D7D711-A4B9-AFAF-EB07-79E127E34988}"/>
              </a:ext>
            </a:extLst>
          </p:cNvPr>
          <p:cNvSpPr txBox="1"/>
          <p:nvPr/>
        </p:nvSpPr>
        <p:spPr>
          <a:xfrm>
            <a:off x="134113" y="1032559"/>
            <a:ext cx="3843528" cy="5724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Google Sans"/>
              </a:rPr>
              <a:t>“Hospitalization” category</a:t>
            </a:r>
            <a:r>
              <a:rPr lang="en-US" sz="2400" b="0" i="0" dirty="0">
                <a:effectLst/>
                <a:latin typeface="Google Sans"/>
              </a:rPr>
              <a:t> has the highest number of "As Expected" results (6,818), followed by "Hospital Readmission" (6,714) and “PPPW" (6,659). This suggests that these categories might be well-understood or predictable in terms of outcomes.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7550E4-3187-63E3-EC78-4280015AD1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84" t="27300" r="26516" b="26406"/>
          <a:stretch/>
        </p:blipFill>
        <p:spPr bwMode="auto">
          <a:xfrm>
            <a:off x="1616345" y="326136"/>
            <a:ext cx="767419" cy="576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5FA520C2-B4B2-6AEF-87CB-DDF71674E32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452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FB8F1-1E67-F4A8-94ED-3E7CB487E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9246" y="766572"/>
            <a:ext cx="8596668" cy="576073"/>
          </a:xfrm>
        </p:spPr>
        <p:txBody>
          <a:bodyPr>
            <a:no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KPI-6 Average Payment Reduction Rate</a:t>
            </a:r>
            <a:br>
              <a:rPr lang="en-IN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</a:br>
            <a:endParaRPr lang="en-IN" b="1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999DED-334A-BDA0-180A-995F818BC05A}"/>
              </a:ext>
            </a:extLst>
          </p:cNvPr>
          <p:cNvSpPr txBox="1"/>
          <p:nvPr/>
        </p:nvSpPr>
        <p:spPr>
          <a:xfrm>
            <a:off x="441175" y="2046147"/>
            <a:ext cx="10979681" cy="3261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Average Payment Reduction Rate Calculate</a:t>
            </a:r>
            <a:r>
              <a:rPr lang="en-US" sz="2800" dirty="0">
                <a:highlight>
                  <a:srgbClr val="FFFFFF"/>
                </a:highlight>
                <a:latin typeface="Aptos" panose="020B0004020202020204" pitchFamily="34" charset="0"/>
              </a:rPr>
              <a:t>s</a:t>
            </a:r>
            <a:r>
              <a:rPr lang="en-US" sz="2800" b="0" i="0" dirty="0"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 and tracks the average rate at which payments are reduced, providing insights into cost-saving measures.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highlight>
                  <a:srgbClr val="FFFFFF"/>
                </a:highlight>
                <a:latin typeface="Aptos" panose="020B0004020202020204" pitchFamily="34" charset="0"/>
              </a:rPr>
              <a:t>The average payment reduction rate was 0.32%.</a:t>
            </a:r>
            <a:endParaRPr lang="en-US" sz="2800" b="0" i="0" dirty="0"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endParaRPr lang="en-IN" sz="2800" dirty="0">
              <a:latin typeface="Aptos" panose="020B00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6704D2-F838-61C7-192E-5A6A0A0553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84" t="27300" r="26516" b="26406"/>
          <a:stretch/>
        </p:blipFill>
        <p:spPr bwMode="auto">
          <a:xfrm>
            <a:off x="1491827" y="749808"/>
            <a:ext cx="767419" cy="576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7416D0F0-71CC-D819-F3C9-FE174AEDAD1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998"/>
            <a:ext cx="12192000" cy="6858000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10B8284F-93CE-56BF-F0FE-451019A41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6944" y="4297590"/>
            <a:ext cx="2197608" cy="2197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3148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6">
            <a:extLst>
              <a:ext uri="{FF2B5EF4-FFF2-40B4-BE49-F238E27FC236}">
                <a16:creationId xmlns:a16="http://schemas.microsoft.com/office/drawing/2014/main" id="{43533814-1AB2-6D7C-3276-79618E16DF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0411A2-26A9-137D-2AFE-7CE07A80972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275302" y="196645"/>
            <a:ext cx="11749549" cy="654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601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785F668-2DF2-6908-DE26-F620D6DBC6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03" t="2800" r="951" b="3333"/>
          <a:stretch/>
        </p:blipFill>
        <p:spPr>
          <a:xfrm>
            <a:off x="384047" y="192024"/>
            <a:ext cx="11430001" cy="6437376"/>
          </a:xfrm>
          <a:prstGeom prst="rect">
            <a:avLst/>
          </a:prstGeom>
        </p:spPr>
      </p:pic>
      <p:pic>
        <p:nvPicPr>
          <p:cNvPr id="11" name="Content Placeholder 6">
            <a:extLst>
              <a:ext uri="{FF2B5EF4-FFF2-40B4-BE49-F238E27FC236}">
                <a16:creationId xmlns:a16="http://schemas.microsoft.com/office/drawing/2014/main" id="{7C628601-E80D-DFD2-E2B8-3593DAC5469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14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6">
            <a:extLst>
              <a:ext uri="{FF2B5EF4-FFF2-40B4-BE49-F238E27FC236}">
                <a16:creationId xmlns:a16="http://schemas.microsoft.com/office/drawing/2014/main" id="{07910913-8794-6D92-BE95-FABF422C98F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660E35-B2A5-CEFC-19B1-51A805FAA62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344129" y="186813"/>
            <a:ext cx="11670890" cy="651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34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6">
            <a:extLst>
              <a:ext uri="{FF2B5EF4-FFF2-40B4-BE49-F238E27FC236}">
                <a16:creationId xmlns:a16="http://schemas.microsoft.com/office/drawing/2014/main" id="{EB2D34C0-2FFE-7211-136B-6882371E38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B20EA1-8D98-5C5D-C0CA-6DF93266C2F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334297" y="137651"/>
            <a:ext cx="11670890" cy="660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529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B1FB92-0CBA-9513-2141-1A46F16DCD59}"/>
              </a:ext>
            </a:extLst>
          </p:cNvPr>
          <p:cNvSpPr txBox="1"/>
          <p:nvPr/>
        </p:nvSpPr>
        <p:spPr>
          <a:xfrm>
            <a:off x="835152" y="547295"/>
            <a:ext cx="73013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Conclusion :</a:t>
            </a:r>
            <a:endParaRPr lang="en-IN" sz="4400" b="1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B0FC3C-1963-B04E-8A03-1ED01852608C}"/>
              </a:ext>
            </a:extLst>
          </p:cNvPr>
          <p:cNvSpPr txBox="1"/>
          <p:nvPr/>
        </p:nvSpPr>
        <p:spPr>
          <a:xfrm>
            <a:off x="429768" y="1316736"/>
            <a:ext cx="1092708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dirty="0">
                <a:effectLst/>
                <a:latin typeface="Aptos" panose="020B0004020202020204" pitchFamily="34" charset="0"/>
              </a:rPr>
              <a:t>The total number of patients across various summaries amounted to 22.32 million.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dirty="0">
                <a:effectLst/>
                <a:latin typeface="Aptos" panose="020B0004020202020204" pitchFamily="34" charset="0"/>
              </a:rPr>
              <a:t>The "Serum Phosphorus Summary" has the highest number of patient-months.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dirty="0">
                <a:effectLst/>
                <a:latin typeface="Aptos" panose="020B0004020202020204" pitchFamily="34" charset="0"/>
              </a:rPr>
              <a:t>There are 369 chain organizations with total performance score as no score.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dirty="0">
                <a:effectLst/>
                <a:latin typeface="Aptos" panose="020B0004020202020204" pitchFamily="34" charset="0"/>
              </a:rPr>
              <a:t>The total number of dialysis stations is 135,000. California has the highest number of stations among the states, with 15,095 stations, while Houston leads among cities with 1,972 stations.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dirty="0">
                <a:effectLst/>
                <a:latin typeface="Aptos" panose="020B0004020202020204" pitchFamily="34" charset="0"/>
              </a:rPr>
              <a:t>The overall profit reached 89%, with Los Angeles making the highest contribution.</a:t>
            </a:r>
          </a:p>
          <a:p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7D6E1B0-61CB-59EE-8FFB-6D61A1A59B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97"/>
          <a:stretch/>
        </p:blipFill>
        <p:spPr bwMode="auto">
          <a:xfrm>
            <a:off x="348996" y="597065"/>
            <a:ext cx="566928" cy="66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13DCF1A6-62A9-B85A-CCD6-6CC5DD400D2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315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6">
            <a:extLst>
              <a:ext uri="{FF2B5EF4-FFF2-40B4-BE49-F238E27FC236}">
                <a16:creationId xmlns:a16="http://schemas.microsoft.com/office/drawing/2014/main" id="{CA7C6E64-0680-0FD3-52BE-F04A52EBB42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B3EB81-4E6C-4E21-6FB2-B2BA6B2E84A5}"/>
              </a:ext>
            </a:extLst>
          </p:cNvPr>
          <p:cNvSpPr txBox="1"/>
          <p:nvPr/>
        </p:nvSpPr>
        <p:spPr>
          <a:xfrm>
            <a:off x="1716024" y="2330256"/>
            <a:ext cx="84856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THANK YOU</a:t>
            </a:r>
            <a:endParaRPr lang="en-IN" sz="9600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17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410</TotalTime>
  <Words>676</Words>
  <Application>Microsoft Office PowerPoint</Application>
  <PresentationFormat>Widescreen</PresentationFormat>
  <Paragraphs>59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Google Sans</vt:lpstr>
      <vt:lpstr>Trebuchet MS</vt:lpstr>
      <vt:lpstr>Wingdings 3</vt:lpstr>
      <vt:lpstr>Facet</vt:lpstr>
      <vt:lpstr>Health Care Dialysis </vt:lpstr>
      <vt:lpstr>    Contents:</vt:lpstr>
      <vt:lpstr>        Introduction :</vt:lpstr>
      <vt:lpstr>          Health Care Overview:</vt:lpstr>
      <vt:lpstr>         KPI-1 Number of Patients Based on Various Summaries</vt:lpstr>
      <vt:lpstr>          KPI-2  PROFIT V/S NON-PROFIT STATS</vt:lpstr>
      <vt:lpstr>          KPI-3 Chain Organizations w.r.t Total Performance Score as No Score</vt:lpstr>
      <vt:lpstr>KPI-4 Dialysis Stations Stats </vt:lpstr>
      <vt:lpstr>KPI-5# of Category Text  - As Expected </vt:lpstr>
      <vt:lpstr>KPI-6 Average Payment Reduction Rate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Care Dialysis</dc:title>
  <dc:creator>Santhosh Kavala</dc:creator>
  <cp:lastModifiedBy>Santhosh Kavala</cp:lastModifiedBy>
  <cp:revision>10</cp:revision>
  <dcterms:created xsi:type="dcterms:W3CDTF">2024-05-17T11:54:47Z</dcterms:created>
  <dcterms:modified xsi:type="dcterms:W3CDTF">2024-05-24T15:56:49Z</dcterms:modified>
</cp:coreProperties>
</file>